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5d058acda74bb1" /><Relationship Type="http://schemas.openxmlformats.org/officeDocument/2006/relationships/extended-properties" Target="/docProps/app.xml" Id="R318165ad27874bbe" /><Relationship Type="http://schemas.openxmlformats.org/officeDocument/2006/relationships/officeDocument" Target="/ppt/presentation.xml" Id="R914baba53bc143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e2039ec1f40ef"/>
  </p:sldMasterIdLst>
  <p:notesMasterIdLst>
    <p:notesMasterId xmlns:r="http://schemas.openxmlformats.org/officeDocument/2006/relationships" r:id="Rce1ddee1a81641bb"/>
  </p:notesMasterIdLst>
  <p:sldIdLst>
    <p:sldId xmlns:r="http://schemas.openxmlformats.org/officeDocument/2006/relationships" id="256" r:id="R39948e0ca4714f3b"/>
    <p:sldId xmlns:r="http://schemas.openxmlformats.org/officeDocument/2006/relationships" id="257" r:id="Rc7b9e8b21c6f4d85"/>
    <p:sldId xmlns:r="http://schemas.openxmlformats.org/officeDocument/2006/relationships" id="258" r:id="R8bc107580c2d4686"/>
    <p:sldId xmlns:r="http://schemas.openxmlformats.org/officeDocument/2006/relationships" id="259" r:id="R327233d5044c4e03"/>
    <p:sldId xmlns:r="http://schemas.openxmlformats.org/officeDocument/2006/relationships" id="260" r:id="Rf276f88edb884b3c"/>
    <p:sldId xmlns:r="http://schemas.openxmlformats.org/officeDocument/2006/relationships" id="261" r:id="Rf0c1f93b456b4de3"/>
    <p:sldId xmlns:r="http://schemas.openxmlformats.org/officeDocument/2006/relationships" id="262" r:id="Ree4d736a59a44671"/>
  </p:sldIdLst>
  <p:sldSz cx="10287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49d0001c14a4d" /><Relationship Type="http://schemas.openxmlformats.org/officeDocument/2006/relationships/slideMaster" Target="/ppt/slideMasters/slideMaster1.xml" Id="Ref9e2039ec1f40ef" /><Relationship Type="http://schemas.openxmlformats.org/officeDocument/2006/relationships/notesMaster" Target="/ppt/notesMasters/notesMaster1.xml" Id="Rce1ddee1a81641bb" /><Relationship Type="http://schemas.openxmlformats.org/officeDocument/2006/relationships/presProps" Target="/ppt/presProps.xml" Id="R37fe08bf740642f7" /><Relationship Type="http://schemas.openxmlformats.org/officeDocument/2006/relationships/tableStyles" Target="/ppt/tableStyles.xml" Id="R597078db5cc542c4" /><Relationship Type="http://schemas.openxmlformats.org/officeDocument/2006/relationships/slide" Target="/ppt/slides/slide1.xml" Id="R39948e0ca4714f3b" /><Relationship Type="http://schemas.openxmlformats.org/officeDocument/2006/relationships/slide" Target="/ppt/slides/slide2.xml" Id="Rc7b9e8b21c6f4d85" /><Relationship Type="http://schemas.openxmlformats.org/officeDocument/2006/relationships/slide" Target="/ppt/slides/slide3.xml" Id="R8bc107580c2d4686" /><Relationship Type="http://schemas.openxmlformats.org/officeDocument/2006/relationships/slide" Target="/ppt/slides/slide4.xml" Id="R327233d5044c4e03" /><Relationship Type="http://schemas.openxmlformats.org/officeDocument/2006/relationships/slide" Target="/ppt/slides/slide5.xml" Id="Rf276f88edb884b3c" /><Relationship Type="http://schemas.openxmlformats.org/officeDocument/2006/relationships/slide" Target="/ppt/slides/slide6.xml" Id="Rf0c1f93b456b4de3" /><Relationship Type="http://schemas.openxmlformats.org/officeDocument/2006/relationships/slide" Target="/ppt/slides/slide7.xml" Id="Ree4d736a59a4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75455dde3346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6b3f74689e4d1f" /><Relationship Type="http://schemas.openxmlformats.org/officeDocument/2006/relationships/notesMaster" Target="/ppt/notesMasters/notesMaster1.xml" Id="R8fcff22774bd4a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5af09135b246c0" /><Relationship Type="http://schemas.openxmlformats.org/officeDocument/2006/relationships/notesMaster" Target="/ppt/notesMasters/notesMaster1.xml" Id="Rf911b0cbbe564b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2690ae08ff4f55" /><Relationship Type="http://schemas.openxmlformats.org/officeDocument/2006/relationships/notesMaster" Target="/ppt/notesMasters/notesMaster1.xml" Id="R236ea8dfa9674a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d17838c3584020" /><Relationship Type="http://schemas.openxmlformats.org/officeDocument/2006/relationships/notesMaster" Target="/ppt/notesMasters/notesMaster1.xml" Id="Rb067936c4494436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8ab798ce494208" /><Relationship Type="http://schemas.openxmlformats.org/officeDocument/2006/relationships/notesMaster" Target="/ppt/notesMasters/notesMaster1.xml" Id="Rf666dad21cb6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bf770d31c8644f8" /><Relationship Type="http://schemas.openxmlformats.org/officeDocument/2006/relationships/notesMaster" Target="/ppt/notesMasters/notesMaster1.xml" Id="R5f2de4bf07954a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237550cdf749a3" /><Relationship Type="http://schemas.openxmlformats.org/officeDocument/2006/relationships/notesMaster" Target="/ppt/notesMasters/notesMaster1.xml" Id="R08853a7f3a054a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e52fc4ce64f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1a9808db2a4ab7" /><Relationship Type="http://schemas.openxmlformats.org/officeDocument/2006/relationships/slideLayout" Target="/ppt/slideLayouts/slideLayout1.xml" Id="R42542121125949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542121125949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084c189484c02" /><Relationship Type="http://schemas.openxmlformats.org/officeDocument/2006/relationships/notesSlide" Target="/ppt/notesSlides/notesSlide1.xml" Id="Ra5a76b5dc4884c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743a723c754210" /><Relationship Type="http://schemas.openxmlformats.org/officeDocument/2006/relationships/notesSlide" Target="/ppt/notesSlides/notesSlide2.xml" Id="R498b7f5969d740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2a32f5a084f3d" /><Relationship Type="http://schemas.openxmlformats.org/officeDocument/2006/relationships/notesSlide" Target="/ppt/notesSlides/notesSlide3.xml" Id="R7893835d156c46f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fd203965f4ab6" /><Relationship Type="http://schemas.openxmlformats.org/officeDocument/2006/relationships/notesSlide" Target="/ppt/notesSlides/notesSlide4.xml" Id="R91ae3f9a903e49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9d124de41421a" /><Relationship Type="http://schemas.openxmlformats.org/officeDocument/2006/relationships/notesSlide" Target="/ppt/notesSlides/notesSlide5.xml" Id="R72ffdb1c972249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1c44cd4a34660" /><Relationship Type="http://schemas.openxmlformats.org/officeDocument/2006/relationships/notesSlide" Target="/ppt/notesSlides/notesSlide6.xml" Id="R247c16a9db7f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bc6608b8346de" /><Relationship Type="http://schemas.openxmlformats.org/officeDocument/2006/relationships/notesSlide" Target="/ppt/notesSlides/notesSlide7.xml" Id="R9cd042dba30644b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8A7CE-E3D4-43A5-BC3A-789A3616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93471-6CDE-40A7-B6E9-58DACD3F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01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8A7FC-9D37-40C1-B7C3-F288C92A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8768F-A39A-4236-8FE3-EA04D746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8839200" cy="7524750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CEC5AE-20BB-4A1A-8ED3-C585323E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33500"/>
            <a:ext cx="8610600" cy="7296150"/>
          </a:xfrm>
          <a:prstGeom xmlns:a="http://schemas.openxmlformats.org/drawingml/2006/main" prst="roundRect">
            <a:avLst>
              <a:gd name="adj" fmla="val 2089"/>
            </a:avLst>
          </a:prstGeom>
          <a:solidFill xmlns:a="http://schemas.openxmlformats.org/drawingml/2006/main">
            <a:srgbClr val="F4EFE5"/>
          </a:solidFill>
          <a:ln xmlns:a="http://schemas.openxmlformats.org/drawingml/2006/main" w="9525">
            <a:solidFill>
              <a:srgbClr val="C59A4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1B0AF-CFB9-418F-91C8-DB0FBC3C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907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6855"/>
                </a:solidFill>
              </a:defRPr>
            </a:pPr>
            <a:r>
              <a:rPr sz="1275" b="1">
                <a:solidFill>
                  <a:srgbClr val="D76855"/>
                </a:solidFill>
              </a:rPr>
              <a:t>PEOPLE SYSTEMS FOR FOUNDERS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51030-9FF4-43F2-86E2-3B4F990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762250"/>
            <a:ext cx="7620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231E"/>
                </a:solidFill>
              </a:defRPr>
            </a:pPr>
            <a:r>
              <a:rPr sz="4800" b="1">
                <a:solidFill>
                  <a:srgbClr val="17231E"/>
                </a:solidFill>
              </a:rPr>
              <a:t>Before your startup hires HR,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863A7E-25C1-44A8-9DCA-327984BB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19700"/>
            <a:ext cx="742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75" b="1">
                <a:solidFill>
                  <a:srgbClr val="0B5D4B"/>
                </a:solidFill>
              </a:defRPr>
            </a:pPr>
            <a:r>
              <a:rPr sz="3075" b="1">
                <a:solidFill>
                  <a:srgbClr val="0B5D4B"/>
                </a:solidFill>
              </a:rPr>
              <a:t>build these 5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FA51AD-D7D2-4230-836A-E3530C7A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239000"/>
            <a:ext cx="819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E44EA-36C9-4454-8D39-248DDD47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7736B"/>
                </a:solidFill>
              </a:defRPr>
            </a:pPr>
            <a:r>
              <a:rPr sz="1500" b="0">
                <a:solidFill>
                  <a:srgbClr val="67736B"/>
                </a:solidFill>
              </a:rPr>
              <a:t>Built from four startup people functions</a:t>
            </a:r>
          </a:p>
        </p:txBody>
      </p:sp>
    </p:spTree>
    <p:extLst>
      <p:ext uri="{BB962C8B-B14F-4D97-AF65-F5344CB8AC3E}">
        <p14:creationId xmlns:p14="http://schemas.microsoft.com/office/powerpoint/2010/main" val="5978331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46D84-6E36-42F0-88D3-3BF9535D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2C0020-2758-4CFE-A9CB-804D987C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02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0D9752-0F8A-4100-AE53-4D35BDA7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CF9548-8CAB-4267-A043-8310BC60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23E56-AB61-43E6-B51D-31FD1D72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hiring decision that can be explained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C8E24A-3928-4184-B29C-C4DB47EF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8951D-3AC6-43C3-AB83-0C08DD44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Define the role, decision owner, must-have evidence, salary band, and final approval before the first CV arrives.</a:t>
            </a:r>
          </a:p>
        </p:txBody>
      </p:sp>
    </p:spTree>
    <p:extLst>
      <p:ext uri="{BB962C8B-B14F-4D97-AF65-F5344CB8AC3E}">
        <p14:creationId xmlns:p14="http://schemas.microsoft.com/office/powerpoint/2010/main" val="6552001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3794C-4645-4503-A382-8EE8A22F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50F15-A727-4095-89F7-DD756116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03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41613-CA34-4891-8E6E-90D5EAC1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16FAA-5DB6-47CF-B69A-6B9D195C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64B0AE-2F4B-4CAE-AE09-91DDD8B4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Onboarding that does not depend on memory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B707FC-5071-4A37-83E7-11B5A2F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273797-017E-4F3E-A098-97C826ED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Every new hire should know what success looks like in week one, month one, and day 90.</a:t>
            </a:r>
          </a:p>
        </p:txBody>
      </p:sp>
    </p:spTree>
    <p:extLst>
      <p:ext uri="{BB962C8B-B14F-4D97-AF65-F5344CB8AC3E}">
        <p14:creationId xmlns:p14="http://schemas.microsoft.com/office/powerpoint/2010/main" val="15755849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4F920-D1BD-4C84-9F7C-2CAB1D8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DC1618-D206-450C-9725-D680352F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04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B9B4E-5193-48CC-A090-79F402B5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A1E9FE-8F2C-4CB5-A3D0-31D8D9BD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7B4DB-3F68-4621-BD36-E3462E2A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One place for attendance, leave, and payroll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7CFB74-A4EB-4E21-9FD7-21651CA2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79838-FAB1-4ACE-900D-9E5BEB7F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If the answer changes by manager, it is not a rule. It is a negotiation.</a:t>
            </a:r>
          </a:p>
        </p:txBody>
      </p:sp>
    </p:spTree>
    <p:extLst>
      <p:ext uri="{BB962C8B-B14F-4D97-AF65-F5344CB8AC3E}">
        <p14:creationId xmlns:p14="http://schemas.microsoft.com/office/powerpoint/2010/main" val="986198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838C5-FF3D-41E3-A7D0-1F6EBD9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311B17-F76B-4FC6-A956-FF840235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05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87AED-6DF2-48B1-AFAE-1F3718C3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6A051-3C9B-43EF-84C6-1B1C47E2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2BBEA-8215-430D-8DE7-3FF2FF51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feedback rhythm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A11E3A-314B-4EE4-AF97-6D5581583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C8E95-7C6A-4F67-BEE7-A910217D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Do not wait for appraisal season. Managers need a simple way to notice good work and address problems early.</a:t>
            </a:r>
          </a:p>
        </p:txBody>
      </p:sp>
    </p:spTree>
    <p:extLst>
      <p:ext uri="{BB962C8B-B14F-4D97-AF65-F5344CB8AC3E}">
        <p14:creationId xmlns:p14="http://schemas.microsoft.com/office/powerpoint/2010/main" val="6557902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EF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B824FA-2324-4BA3-AC8A-0234BE41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74623-78B3-45B5-803D-71930463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17231E"/>
                </a:solidFill>
              </a:defRPr>
            </a:pPr>
            <a:r>
              <a:rPr sz="1125" b="1">
                <a:solidFill>
                  <a:srgbClr val="17231E"/>
                </a:solidFill>
              </a:rPr>
              <a:t>06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BF631D-0525-4D1B-A1C7-E8B4274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3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1BD739-3ECB-4B96-AC5A-FA3D46A4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3143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950" b="1">
                <a:solidFill>
                  <a:srgbClr val="EAE2D3"/>
                </a:solidFill>
              </a:defRPr>
            </a:pPr>
            <a:r>
              <a:rPr sz="13950" b="1">
                <a:solidFill>
                  <a:srgbClr val="EAE2D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F35EC6-7D1B-4752-B44C-E54D096D0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685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31E"/>
                </a:solidFill>
              </a:defRPr>
            </a:pPr>
            <a:r>
              <a:rPr sz="3975" b="1">
                <a:solidFill>
                  <a:srgbClr val="17231E"/>
                </a:solidFill>
              </a:rPr>
              <a:t>A record of workforce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F115D-1A3A-4868-9D00-DB359C66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9715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D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6044C0-94F9-4B11-9FB3-E05DB699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86450"/>
            <a:ext cx="666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7736B"/>
                </a:solidFill>
              </a:defRPr>
            </a:pPr>
            <a:r>
              <a:rPr sz="2250" b="0">
                <a:solidFill>
                  <a:srgbClr val="67736B"/>
                </a:solidFill>
              </a:rPr>
              <a:t>Why did we hire, promote, adjust salary, or let someone go? Write it down while the context is fresh.</a:t>
            </a:r>
          </a:p>
        </p:txBody>
      </p:sp>
    </p:spTree>
    <p:extLst>
      <p:ext uri="{BB962C8B-B14F-4D97-AF65-F5344CB8AC3E}">
        <p14:creationId xmlns:p14="http://schemas.microsoft.com/office/powerpoint/2010/main" val="15222918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1217F-44D4-4174-8528-7EAEDD17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USAMA SHAHZAIB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21382-2916-4689-97E7-30C3095D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F4EFE5"/>
                </a:solidFill>
              </a:defRPr>
            </a:pPr>
            <a:r>
              <a:rPr sz="1125" b="1">
                <a:solidFill>
                  <a:srgbClr val="F4EFE5"/>
                </a:solidFill>
              </a:rPr>
              <a:t>07 /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AFDE2-1734-4212-A588-2D6DA3B9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601200"/>
            <a:ext cx="883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E2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29968-5C2D-4E82-A7FA-A04A4535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84582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575" b="1">
                <a:solidFill>
                  <a:srgbClr val="F4EFE5"/>
                </a:solidFill>
              </a:defRPr>
            </a:pPr>
            <a:r>
              <a:rPr sz="4575" b="1">
                <a:solidFill>
                  <a:srgbClr val="F4EFE5"/>
                </a:solidFill>
              </a:rPr>
              <a:t>HR starts when decisions stop living only in the founder's head.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C6898-1E96-41DA-AC29-6E932801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6048375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68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305C76-6336-4EAA-9F46-E047B1BC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629400"/>
            <a:ext cx="7620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AE2D3"/>
                </a:solidFill>
              </a:defRPr>
            </a:pPr>
            <a:r>
              <a:rPr sz="2325" b="1">
                <a:solidFill>
                  <a:srgbClr val="EAE2D3"/>
                </a:solidFill>
              </a:rPr>
              <a:t>Which system is missing in your startup?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30C4D-607A-43F8-B79E-80945DAE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4201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9C0BB"/>
                </a:solidFill>
              </a:defRPr>
            </a:pPr>
            <a:r>
              <a:rPr sz="1350" b="0">
                <a:solidFill>
                  <a:srgbClr val="B9C0BB"/>
                </a:solidFill>
              </a:rPr>
              <a:t>People &amp; Culture | Startup workforce decisions</a:t>
            </a:r>
          </a:p>
        </p:txBody>
      </p:sp>
    </p:spTree>
    <p:extLst>
      <p:ext uri="{BB962C8B-B14F-4D97-AF65-F5344CB8AC3E}">
        <p14:creationId xmlns:p14="http://schemas.microsoft.com/office/powerpoint/2010/main" val="15871545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2026-08-31T11:41:46.0910000Z</dcterms:created>
  <dcterms:modified xsi:type="dcterms:W3CDTF">2026-08-31T11:41:46.0910000Z</dcterms:modified>
</coreProperties>
</file>